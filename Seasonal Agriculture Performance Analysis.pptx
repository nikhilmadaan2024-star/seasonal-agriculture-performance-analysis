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9/9/2026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9/9/2026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9/9/2026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9/9/2026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hyperlink" Target="github"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47474" y="3588198"/>
            <a:ext cx="3400089" cy="861497"/>
          </a:xfrm>
        </p:spPr>
        <p:txBody>
          <a:bodyPr vert="horz" lIns="91440" tIns="45720" rIns="91440" bIns="45720" rtlCol="0" anchor="t">
            <a:normAutofit fontScale="77500" lnSpcReduction="20000"/>
          </a:bodyPr>
          <a:lstStyle/>
          <a:p>
            <a:pPr algn="r"/>
            <a:r>
              <a:rPr lang="en-US" b="0" dirty="0">
                <a:solidFill>
                  <a:schemeClr val="tx1"/>
                </a:solidFill>
              </a:rPr>
              <a:t>[</a:t>
            </a:r>
            <a:r>
              <a:rPr lang="en-US" sz="2400" dirty="0">
                <a:solidFill>
                  <a:schemeClr val="tx1"/>
                </a:solidFill>
                <a:highlight>
                  <a:srgbClr val="00FF00"/>
                </a:highlight>
              </a:rPr>
              <a:t>NIKHIL MADAAN </a:t>
            </a:r>
            <a:endParaRPr lang="en-IN" dirty="0">
              <a:solidFill>
                <a:schemeClr val="tx1"/>
              </a:solidFill>
              <a:highlight>
                <a:srgbClr val="00FF00"/>
              </a:highlight>
            </a:endParaRPr>
          </a:p>
          <a:p>
            <a:pPr algn="r"/>
            <a:r>
              <a:rPr lang="en-US" b="0" dirty="0">
                <a:solidFill>
                  <a:schemeClr val="tx1"/>
                </a:solidFill>
              </a:rPr>
              <a:t>College Name - Om Sterling Global University ]</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4998720" cy="743448"/>
          </a:xfrm>
        </p:spPr>
        <p:txBody>
          <a:bodyPr>
            <a:normAutofit/>
          </a:bodyPr>
          <a:lstStyle/>
          <a:p>
            <a:r>
              <a:rPr lang="en-GB" sz="3200" dirty="0"/>
              <a:t>Project Title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5" y="4576469"/>
            <a:ext cx="3745224" cy="646331"/>
          </a:xfrm>
          <a:prstGeom prst="rect">
            <a:avLst/>
          </a:prstGeom>
          <a:noFill/>
        </p:spPr>
        <p:txBody>
          <a:bodyPr wrap="square" rtlCol="0">
            <a:spAutoFit/>
          </a:bodyPr>
          <a:lstStyle/>
          <a:p>
            <a:r>
              <a:rPr lang="en-US" b="1" dirty="0"/>
              <a:t>AICTE STU ID : (</a:t>
            </a:r>
            <a:r>
              <a:rPr lang="en-IN" dirty="0">
                <a:highlight>
                  <a:srgbClr val="FFFF00"/>
                </a:highlight>
              </a:rPr>
              <a:t>STU6a6b4eb4a05bb1785417396</a:t>
            </a:r>
            <a:r>
              <a:rPr lang="en-US" b="1" dirty="0"/>
              <a:t>)</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GB" dirty="0"/>
            </a:br>
            <a:r>
              <a:rPr lang="en-IN" sz="2700" dirty="0"/>
              <a:t>This project </a:t>
            </a:r>
            <a:r>
              <a:rPr lang="en-IN" sz="2700" dirty="0" err="1"/>
              <a:t>analyzes</a:t>
            </a:r>
            <a:r>
              <a:rPr lang="en-IN" sz="2700" dirty="0"/>
              <a:t> agricultural data across different seasons, crops, states, and farming conditions. It studies yield, production, environmental factors, resource usage, irrigation, market prices, revenue, and profit to identify meaningful patterns and relationships. The analysis uses Python, statistical methods, and data visualizations to understand seasonal  performance and provide evidence-based insights for better agricultural planning.</a:t>
            </a:r>
            <a:r>
              <a:rPr lang="en-GB" dirty="0"/>
              <a:t> </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177799"/>
          </a:xfrm>
        </p:spPr>
        <p:txBody>
          <a:bodyPr>
            <a:normAutofit fontScale="47500" lnSpcReduction="20000"/>
          </a:bodyPr>
          <a:lstStyle/>
          <a:p>
            <a:pPr lvl="0"/>
            <a:r>
              <a:rPr lang="en-IN" sz="3600" b="1" dirty="0"/>
              <a:t>Farmers</a:t>
            </a:r>
            <a:r>
              <a:rPr lang="en-IN" sz="3600" dirty="0"/>
              <a:t> – To understand which crops perform better in different seasons. </a:t>
            </a:r>
          </a:p>
          <a:p>
            <a:pPr lvl="0"/>
            <a:r>
              <a:rPr lang="en-IN" sz="3600" b="1" dirty="0"/>
              <a:t>Agricultural Planners</a:t>
            </a:r>
            <a:r>
              <a:rPr lang="en-IN" sz="3600" dirty="0"/>
              <a:t> – To plan farming activities based on seasonal results. </a:t>
            </a:r>
          </a:p>
          <a:p>
            <a:pPr lvl="0"/>
            <a:r>
              <a:rPr lang="en-IN" sz="3600" b="1" dirty="0"/>
              <a:t>Researchers</a:t>
            </a:r>
            <a:r>
              <a:rPr lang="en-IN" sz="3600" dirty="0"/>
              <a:t> – To study crop, weather, and farming patterns. </a:t>
            </a:r>
          </a:p>
          <a:p>
            <a:pPr lvl="0"/>
            <a:r>
              <a:rPr lang="en-IN" sz="3600" b="1" dirty="0"/>
              <a:t>Agricultural Analysts</a:t>
            </a:r>
            <a:r>
              <a:rPr lang="en-IN" sz="3600" dirty="0"/>
              <a:t> – To compare crops, states, and seasons using data. </a:t>
            </a:r>
          </a:p>
          <a:p>
            <a:pPr lvl="0"/>
            <a:r>
              <a:rPr lang="en-IN" sz="3600" b="1" dirty="0"/>
              <a:t>Irrigation Managers</a:t>
            </a:r>
            <a:r>
              <a:rPr lang="en-IN" sz="3600" dirty="0"/>
              <a:t> – To understand water usage and irrigation performance. </a:t>
            </a:r>
          </a:p>
          <a:p>
            <a:pPr lvl="0"/>
            <a:r>
              <a:rPr lang="en-IN" sz="3600" b="1" dirty="0"/>
              <a:t>Government Departments</a:t>
            </a:r>
            <a:r>
              <a:rPr lang="en-IN" sz="3600" dirty="0"/>
              <a:t> – To support better agricultural planning and decisions. </a:t>
            </a:r>
          </a:p>
          <a:p>
            <a:pPr lvl="0"/>
            <a:r>
              <a:rPr lang="en-IN" sz="3600" b="1" dirty="0"/>
              <a:t>Resource Managers</a:t>
            </a:r>
            <a:r>
              <a:rPr lang="en-IN" sz="3600" dirty="0"/>
              <a:t> – To understand the use of water, fertilizer, and pesticides.</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6" end="6"/>
                                            </p:txEl>
                                          </p:spTgt>
                                        </p:tgtEl>
                                        <p:attrNameLst>
                                          <p:attrName>style.visibility</p:attrName>
                                        </p:attrNameLst>
                                      </p:cBhvr>
                                      <p:to>
                                        <p:strVal val="visible"/>
                                      </p:to>
                                    </p:set>
                                    <p:animEffect transition="in" filter="fade">
                                      <p:cBhvr>
                                        <p:cTn id="56" dur="1000"/>
                                        <p:tgtEl>
                                          <p:spTgt spid="2">
                                            <p:txEl>
                                              <p:pRg st="6" end="6"/>
                                            </p:txEl>
                                          </p:spTgt>
                                        </p:tgtEl>
                                      </p:cBhvr>
                                    </p:animEffect>
                                    <p:anim calcmode="lin" valueType="num">
                                      <p:cBhvr>
                                        <p:cTn id="57"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452839" y="1167013"/>
            <a:ext cx="9027702" cy="5243448"/>
          </a:xfrm>
        </p:spPr>
        <p:txBody>
          <a:bodyPr/>
          <a:lstStyle/>
          <a:p>
            <a:pPr lvl="0"/>
            <a:r>
              <a:rPr lang="en-IN" b="1" dirty="0"/>
              <a:t>Python</a:t>
            </a:r>
            <a:r>
              <a:rPr lang="en-IN" dirty="0"/>
              <a:t> – Used for performing the overall data analysis. </a:t>
            </a:r>
          </a:p>
          <a:p>
            <a:pPr lvl="0"/>
            <a:r>
              <a:rPr lang="en-IN" b="1" dirty="0"/>
              <a:t>Pandas</a:t>
            </a:r>
            <a:r>
              <a:rPr lang="en-IN" dirty="0"/>
              <a:t> – Used for loading, cleaning, and </a:t>
            </a:r>
            <a:r>
              <a:rPr lang="en-IN" dirty="0" err="1"/>
              <a:t>analyzing</a:t>
            </a:r>
            <a:r>
              <a:rPr lang="en-IN" dirty="0"/>
              <a:t> the dataset. </a:t>
            </a:r>
          </a:p>
          <a:p>
            <a:pPr lvl="0"/>
            <a:r>
              <a:rPr lang="en-IN" b="1" dirty="0"/>
              <a:t>NumPy</a:t>
            </a:r>
            <a:r>
              <a:rPr lang="en-IN" dirty="0"/>
              <a:t> – Used for numerical calculations. </a:t>
            </a:r>
          </a:p>
          <a:p>
            <a:pPr lvl="0"/>
            <a:r>
              <a:rPr lang="en-IN" b="1" dirty="0"/>
              <a:t>Matplotlib</a:t>
            </a:r>
            <a:r>
              <a:rPr lang="en-IN" dirty="0"/>
              <a:t> – Used to create charts and graphs. </a:t>
            </a:r>
          </a:p>
          <a:p>
            <a:pPr lvl="0"/>
            <a:r>
              <a:rPr lang="en-IN" b="1" dirty="0"/>
              <a:t>Seaborn</a:t>
            </a:r>
            <a:r>
              <a:rPr lang="en-IN" dirty="0"/>
              <a:t> – Used to create attractive data visualizations and heatmaps. </a:t>
            </a:r>
          </a:p>
          <a:p>
            <a:pPr lvl="0"/>
            <a:r>
              <a:rPr lang="en-IN" b="1" dirty="0"/>
              <a:t>SciPy</a:t>
            </a:r>
            <a:r>
              <a:rPr lang="en-IN" dirty="0"/>
              <a:t> – Used for statistical analysis such as ANOVA. </a:t>
            </a:r>
          </a:p>
          <a:p>
            <a:pPr lvl="0"/>
            <a:r>
              <a:rPr lang="en-IN" b="1" dirty="0"/>
              <a:t>Jupyter Notebook / Google </a:t>
            </a:r>
            <a:r>
              <a:rPr lang="en-IN" b="1" dirty="0" err="1"/>
              <a:t>Colab</a:t>
            </a:r>
            <a:r>
              <a:rPr lang="en-IN" dirty="0"/>
              <a:t> – Used to write, run, and document the complete analysis. </a:t>
            </a:r>
          </a:p>
          <a:p>
            <a:pPr lvl="0"/>
            <a:r>
              <a:rPr lang="en-IN" b="1" dirty="0"/>
              <a:t>CSV Dataset</a:t>
            </a:r>
            <a:r>
              <a:rPr lang="en-IN" dirty="0"/>
              <a:t> – Used as the main source of agricultural data.</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7">
                                            <p:txEl>
                                              <p:pRg st="7" end="7"/>
                                            </p:txEl>
                                          </p:spTgt>
                                        </p:tgtEl>
                                        <p:attrNameLst>
                                          <p:attrName>style.visibility</p:attrName>
                                        </p:attrNameLst>
                                      </p:cBhvr>
                                      <p:to>
                                        <p:strVal val="visible"/>
                                      </p:to>
                                    </p:set>
                                    <p:animEffect transition="in" filter="fade">
                                      <p:cBhvr>
                                        <p:cTn id="63" dur="1000"/>
                                        <p:tgtEl>
                                          <p:spTgt spid="7">
                                            <p:txEl>
                                              <p:pRg st="7" end="7"/>
                                            </p:txEl>
                                          </p:spTgt>
                                        </p:tgtEl>
                                      </p:cBhvr>
                                    </p:animEffect>
                                    <p:anim calcmode="lin" valueType="num">
                                      <p:cBhvr>
                                        <p:cTn id="64"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E14B06E8-3D11-7E3D-2B47-713367CCE975}"/>
              </a:ext>
            </a:extLst>
          </p:cNvPr>
          <p:cNvPicPr>
            <a:picLocks noChangeAspect="1"/>
          </p:cNvPicPr>
          <p:nvPr/>
        </p:nvPicPr>
        <p:blipFill>
          <a:blip r:embed="rId3"/>
          <a:stretch>
            <a:fillRect/>
          </a:stretch>
        </p:blipFill>
        <p:spPr>
          <a:xfrm>
            <a:off x="81765" y="1201586"/>
            <a:ext cx="3821993" cy="2472612"/>
          </a:xfrm>
          <a:prstGeom prst="rect">
            <a:avLst/>
          </a:prstGeom>
        </p:spPr>
      </p:pic>
      <p:pic>
        <p:nvPicPr>
          <p:cNvPr id="9" name="Picture 8">
            <a:extLst>
              <a:ext uri="{FF2B5EF4-FFF2-40B4-BE49-F238E27FC236}">
                <a16:creationId xmlns:a16="http://schemas.microsoft.com/office/drawing/2014/main" id="{EEB3C3E3-F3A9-A1DD-0E88-B2B32A5CEB0B}"/>
              </a:ext>
            </a:extLst>
          </p:cNvPr>
          <p:cNvPicPr>
            <a:picLocks noChangeAspect="1"/>
          </p:cNvPicPr>
          <p:nvPr/>
        </p:nvPicPr>
        <p:blipFill>
          <a:blip r:embed="rId4"/>
          <a:stretch>
            <a:fillRect/>
          </a:stretch>
        </p:blipFill>
        <p:spPr>
          <a:xfrm>
            <a:off x="4749281" y="218489"/>
            <a:ext cx="5383764" cy="3445919"/>
          </a:xfrm>
          <a:prstGeom prst="rect">
            <a:avLst/>
          </a:prstGeom>
        </p:spPr>
      </p:pic>
      <p:pic>
        <p:nvPicPr>
          <p:cNvPr id="11" name="Picture 10">
            <a:extLst>
              <a:ext uri="{FF2B5EF4-FFF2-40B4-BE49-F238E27FC236}">
                <a16:creationId xmlns:a16="http://schemas.microsoft.com/office/drawing/2014/main" id="{141A5668-08B1-8B42-8400-D626DBB0851D}"/>
              </a:ext>
            </a:extLst>
          </p:cNvPr>
          <p:cNvPicPr>
            <a:picLocks noChangeAspect="1"/>
          </p:cNvPicPr>
          <p:nvPr/>
        </p:nvPicPr>
        <p:blipFill>
          <a:blip r:embed="rId5"/>
          <a:stretch>
            <a:fillRect/>
          </a:stretch>
        </p:blipFill>
        <p:spPr>
          <a:xfrm>
            <a:off x="168246" y="3854319"/>
            <a:ext cx="5301672" cy="2714121"/>
          </a:xfrm>
          <a:prstGeom prst="rect">
            <a:avLst/>
          </a:prstGeom>
        </p:spPr>
      </p:pic>
      <p:pic>
        <p:nvPicPr>
          <p:cNvPr id="13" name="Picture 12">
            <a:extLst>
              <a:ext uri="{FF2B5EF4-FFF2-40B4-BE49-F238E27FC236}">
                <a16:creationId xmlns:a16="http://schemas.microsoft.com/office/drawing/2014/main" id="{9C2DD60E-70E0-E3FE-F36B-7959901146DF}"/>
              </a:ext>
            </a:extLst>
          </p:cNvPr>
          <p:cNvPicPr>
            <a:picLocks noChangeAspect="1"/>
          </p:cNvPicPr>
          <p:nvPr/>
        </p:nvPicPr>
        <p:blipFill>
          <a:blip r:embed="rId6"/>
          <a:stretch>
            <a:fillRect/>
          </a:stretch>
        </p:blipFill>
        <p:spPr>
          <a:xfrm>
            <a:off x="6242180" y="3854319"/>
            <a:ext cx="4305354" cy="2567653"/>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 name="Picture 2">
            <a:extLst>
              <a:ext uri="{FF2B5EF4-FFF2-40B4-BE49-F238E27FC236}">
                <a16:creationId xmlns:a16="http://schemas.microsoft.com/office/drawing/2014/main" id="{67F95419-0BEA-6E57-DFAF-A069E6E4DBEC}"/>
              </a:ext>
            </a:extLst>
          </p:cNvPr>
          <p:cNvPicPr>
            <a:picLocks noChangeAspect="1"/>
          </p:cNvPicPr>
          <p:nvPr/>
        </p:nvPicPr>
        <p:blipFill>
          <a:blip r:embed="rId3"/>
          <a:stretch>
            <a:fillRect/>
          </a:stretch>
        </p:blipFill>
        <p:spPr>
          <a:xfrm>
            <a:off x="320982" y="1201587"/>
            <a:ext cx="4823927" cy="2521327"/>
          </a:xfrm>
          <a:prstGeom prst="rect">
            <a:avLst/>
          </a:prstGeom>
        </p:spPr>
      </p:pic>
      <p:pic>
        <p:nvPicPr>
          <p:cNvPr id="9" name="Picture 8">
            <a:extLst>
              <a:ext uri="{FF2B5EF4-FFF2-40B4-BE49-F238E27FC236}">
                <a16:creationId xmlns:a16="http://schemas.microsoft.com/office/drawing/2014/main" id="{EE5355C0-3CC5-C2C4-1B71-034CDCE5C43A}"/>
              </a:ext>
            </a:extLst>
          </p:cNvPr>
          <p:cNvPicPr>
            <a:picLocks noChangeAspect="1"/>
          </p:cNvPicPr>
          <p:nvPr/>
        </p:nvPicPr>
        <p:blipFill>
          <a:blip r:embed="rId4"/>
          <a:stretch>
            <a:fillRect/>
          </a:stretch>
        </p:blipFill>
        <p:spPr>
          <a:xfrm>
            <a:off x="5763453" y="139959"/>
            <a:ext cx="4650259" cy="3517641"/>
          </a:xfrm>
          <a:prstGeom prst="rect">
            <a:avLst/>
          </a:prstGeom>
        </p:spPr>
      </p:pic>
      <p:pic>
        <p:nvPicPr>
          <p:cNvPr id="12" name="Picture 11">
            <a:extLst>
              <a:ext uri="{FF2B5EF4-FFF2-40B4-BE49-F238E27FC236}">
                <a16:creationId xmlns:a16="http://schemas.microsoft.com/office/drawing/2014/main" id="{ED0BB72E-929D-D4C8-A1A5-A50FC427C2D6}"/>
              </a:ext>
            </a:extLst>
          </p:cNvPr>
          <p:cNvPicPr>
            <a:picLocks noChangeAspect="1"/>
          </p:cNvPicPr>
          <p:nvPr/>
        </p:nvPicPr>
        <p:blipFill>
          <a:blip r:embed="rId5"/>
          <a:stretch>
            <a:fillRect/>
          </a:stretch>
        </p:blipFill>
        <p:spPr>
          <a:xfrm>
            <a:off x="217279" y="3950592"/>
            <a:ext cx="5194476" cy="2608827"/>
          </a:xfrm>
          <a:prstGeom prst="rect">
            <a:avLst/>
          </a:prstGeom>
        </p:spPr>
      </p:pic>
      <p:pic>
        <p:nvPicPr>
          <p:cNvPr id="14" name="Picture 13">
            <a:extLst>
              <a:ext uri="{FF2B5EF4-FFF2-40B4-BE49-F238E27FC236}">
                <a16:creationId xmlns:a16="http://schemas.microsoft.com/office/drawing/2014/main" id="{A519DE79-AB75-8C78-C5E4-19ACD0EA6738}"/>
              </a:ext>
            </a:extLst>
          </p:cNvPr>
          <p:cNvPicPr>
            <a:picLocks noChangeAspect="1"/>
          </p:cNvPicPr>
          <p:nvPr/>
        </p:nvPicPr>
        <p:blipFill>
          <a:blip r:embed="rId6"/>
          <a:stretch>
            <a:fillRect/>
          </a:stretch>
        </p:blipFill>
        <p:spPr>
          <a:xfrm>
            <a:off x="6096000" y="3969254"/>
            <a:ext cx="5194476" cy="2755465"/>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2635832" cy="477520"/>
          </a:xfrm>
        </p:spPr>
        <p:txBody>
          <a:bodyPr/>
          <a:lstStyle/>
          <a:p>
            <a:pPr marL="0" indent="0">
              <a:buNone/>
            </a:pPr>
            <a:endParaRPr lang="en-IN" dirty="0"/>
          </a:p>
        </p:txBody>
      </p:sp>
      <p:pic>
        <p:nvPicPr>
          <p:cNvPr id="3" name="Picture 2">
            <a:extLst>
              <a:ext uri="{FF2B5EF4-FFF2-40B4-BE49-F238E27FC236}">
                <a16:creationId xmlns:a16="http://schemas.microsoft.com/office/drawing/2014/main" id="{F942614C-18CB-971B-170C-3FC71A4B19EB}"/>
              </a:ext>
            </a:extLst>
          </p:cNvPr>
          <p:cNvPicPr>
            <a:picLocks noChangeAspect="1"/>
          </p:cNvPicPr>
          <p:nvPr/>
        </p:nvPicPr>
        <p:blipFill>
          <a:blip r:embed="rId3"/>
          <a:stretch>
            <a:fillRect/>
          </a:stretch>
        </p:blipFill>
        <p:spPr>
          <a:xfrm>
            <a:off x="320982" y="1275371"/>
            <a:ext cx="4060328" cy="2491274"/>
          </a:xfrm>
          <a:prstGeom prst="rect">
            <a:avLst/>
          </a:prstGeom>
        </p:spPr>
      </p:pic>
      <p:pic>
        <p:nvPicPr>
          <p:cNvPr id="9" name="Picture 8">
            <a:extLst>
              <a:ext uri="{FF2B5EF4-FFF2-40B4-BE49-F238E27FC236}">
                <a16:creationId xmlns:a16="http://schemas.microsoft.com/office/drawing/2014/main" id="{B7450D62-F196-BFD0-9CF0-1FB3124F2EF9}"/>
              </a:ext>
            </a:extLst>
          </p:cNvPr>
          <p:cNvPicPr>
            <a:picLocks noChangeAspect="1"/>
          </p:cNvPicPr>
          <p:nvPr/>
        </p:nvPicPr>
        <p:blipFill>
          <a:blip r:embed="rId4"/>
          <a:stretch>
            <a:fillRect/>
          </a:stretch>
        </p:blipFill>
        <p:spPr>
          <a:xfrm>
            <a:off x="4425551" y="3096739"/>
            <a:ext cx="3340898" cy="664522"/>
          </a:xfrm>
          <a:prstGeom prst="rect">
            <a:avLst/>
          </a:prstGeom>
        </p:spPr>
      </p:pic>
      <p:pic>
        <p:nvPicPr>
          <p:cNvPr id="12" name="Picture 11">
            <a:extLst>
              <a:ext uri="{FF2B5EF4-FFF2-40B4-BE49-F238E27FC236}">
                <a16:creationId xmlns:a16="http://schemas.microsoft.com/office/drawing/2014/main" id="{207B6684-26ED-8BEC-9C21-90F4D6AD3DDF}"/>
              </a:ext>
            </a:extLst>
          </p:cNvPr>
          <p:cNvPicPr>
            <a:picLocks noChangeAspect="1"/>
          </p:cNvPicPr>
          <p:nvPr/>
        </p:nvPicPr>
        <p:blipFill>
          <a:blip r:embed="rId5"/>
          <a:stretch>
            <a:fillRect/>
          </a:stretch>
        </p:blipFill>
        <p:spPr>
          <a:xfrm>
            <a:off x="5483292" y="72656"/>
            <a:ext cx="6102220" cy="3240895"/>
          </a:xfrm>
          <a:prstGeom prst="rect">
            <a:avLst/>
          </a:prstGeom>
        </p:spPr>
      </p:pic>
      <p:pic>
        <p:nvPicPr>
          <p:cNvPr id="14" name="Picture 13">
            <a:extLst>
              <a:ext uri="{FF2B5EF4-FFF2-40B4-BE49-F238E27FC236}">
                <a16:creationId xmlns:a16="http://schemas.microsoft.com/office/drawing/2014/main" id="{923F8AB4-73D2-DB70-D5B4-D869E55085B1}"/>
              </a:ext>
            </a:extLst>
          </p:cNvPr>
          <p:cNvPicPr>
            <a:picLocks noChangeAspect="1"/>
          </p:cNvPicPr>
          <p:nvPr/>
        </p:nvPicPr>
        <p:blipFill>
          <a:blip r:embed="rId6"/>
          <a:stretch>
            <a:fillRect/>
          </a:stretch>
        </p:blipFill>
        <p:spPr>
          <a:xfrm>
            <a:off x="5761199" y="3640968"/>
            <a:ext cx="5969860" cy="2927472"/>
          </a:xfrm>
          <a:prstGeom prst="rect">
            <a:avLst/>
          </a:prstGeom>
        </p:spPr>
      </p:pic>
      <p:pic>
        <p:nvPicPr>
          <p:cNvPr id="16" name="Picture 15">
            <a:extLst>
              <a:ext uri="{FF2B5EF4-FFF2-40B4-BE49-F238E27FC236}">
                <a16:creationId xmlns:a16="http://schemas.microsoft.com/office/drawing/2014/main" id="{47892D75-6886-ECAC-3C43-C6870FE46D76}"/>
              </a:ext>
            </a:extLst>
          </p:cNvPr>
          <p:cNvPicPr>
            <a:picLocks noChangeAspect="1"/>
          </p:cNvPicPr>
          <p:nvPr/>
        </p:nvPicPr>
        <p:blipFill>
          <a:blip r:embed="rId7"/>
          <a:stretch>
            <a:fillRect/>
          </a:stretch>
        </p:blipFill>
        <p:spPr>
          <a:xfrm>
            <a:off x="1158364" y="3958837"/>
            <a:ext cx="3578199" cy="2609603"/>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 name="Picture 2">
            <a:extLst>
              <a:ext uri="{FF2B5EF4-FFF2-40B4-BE49-F238E27FC236}">
                <a16:creationId xmlns:a16="http://schemas.microsoft.com/office/drawing/2014/main" id="{E8F94BD7-2E67-7B78-5EAA-D91E96FB4298}"/>
              </a:ext>
            </a:extLst>
          </p:cNvPr>
          <p:cNvPicPr>
            <a:picLocks noChangeAspect="1"/>
          </p:cNvPicPr>
          <p:nvPr/>
        </p:nvPicPr>
        <p:blipFill>
          <a:blip r:embed="rId3"/>
          <a:stretch>
            <a:fillRect/>
          </a:stretch>
        </p:blipFill>
        <p:spPr>
          <a:xfrm>
            <a:off x="320982" y="1120750"/>
            <a:ext cx="9451910" cy="2897841"/>
          </a:xfrm>
          <a:prstGeom prst="rect">
            <a:avLst/>
          </a:prstGeom>
        </p:spPr>
      </p:pic>
      <p:pic>
        <p:nvPicPr>
          <p:cNvPr id="9" name="Picture 8">
            <a:extLst>
              <a:ext uri="{FF2B5EF4-FFF2-40B4-BE49-F238E27FC236}">
                <a16:creationId xmlns:a16="http://schemas.microsoft.com/office/drawing/2014/main" id="{740F076F-A533-7818-401E-A8970F426350}"/>
              </a:ext>
            </a:extLst>
          </p:cNvPr>
          <p:cNvPicPr>
            <a:picLocks noChangeAspect="1"/>
          </p:cNvPicPr>
          <p:nvPr/>
        </p:nvPicPr>
        <p:blipFill>
          <a:blip r:embed="rId4"/>
          <a:stretch>
            <a:fillRect/>
          </a:stretch>
        </p:blipFill>
        <p:spPr>
          <a:xfrm>
            <a:off x="440322" y="3980825"/>
            <a:ext cx="9451910" cy="2587615"/>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8290A9ED-BCA8-0F6A-C787-51884ABE9780}"/>
              </a:ext>
            </a:extLst>
          </p:cNvPr>
          <p:cNvSpPr>
            <a:spLocks noGrp="1"/>
          </p:cNvSpPr>
          <p:nvPr>
            <p:ph type="body" sz="quarter" idx="12"/>
          </p:nvPr>
        </p:nvSpPr>
        <p:spPr/>
        <p:txBody>
          <a:bodyPr/>
          <a:lstStyle/>
          <a:p>
            <a:endParaRPr lang="en-IN" dirty="0"/>
          </a:p>
        </p:txBody>
      </p:sp>
      <p:pic>
        <p:nvPicPr>
          <p:cNvPr id="9" name="Picture 8">
            <a:extLst>
              <a:ext uri="{FF2B5EF4-FFF2-40B4-BE49-F238E27FC236}">
                <a16:creationId xmlns:a16="http://schemas.microsoft.com/office/drawing/2014/main" id="{F49DEF1E-856C-3077-C1C5-E9C867458231}"/>
              </a:ext>
            </a:extLst>
          </p:cNvPr>
          <p:cNvPicPr>
            <a:picLocks noChangeAspect="1"/>
          </p:cNvPicPr>
          <p:nvPr/>
        </p:nvPicPr>
        <p:blipFill>
          <a:blip r:embed="rId3"/>
          <a:stretch>
            <a:fillRect/>
          </a:stretch>
        </p:blipFill>
        <p:spPr>
          <a:xfrm>
            <a:off x="512688" y="1480645"/>
            <a:ext cx="4422850" cy="4192368"/>
          </a:xfrm>
          <a:prstGeom prst="rect">
            <a:avLst/>
          </a:prstGeom>
        </p:spPr>
      </p:pic>
      <p:pic>
        <p:nvPicPr>
          <p:cNvPr id="12" name="Picture 11">
            <a:extLst>
              <a:ext uri="{FF2B5EF4-FFF2-40B4-BE49-F238E27FC236}">
                <a16:creationId xmlns:a16="http://schemas.microsoft.com/office/drawing/2014/main" id="{065A3F77-CA87-30F8-9459-52221EE35A0A}"/>
              </a:ext>
            </a:extLst>
          </p:cNvPr>
          <p:cNvPicPr>
            <a:picLocks noChangeAspect="1"/>
          </p:cNvPicPr>
          <p:nvPr/>
        </p:nvPicPr>
        <p:blipFill>
          <a:blip r:embed="rId4"/>
          <a:stretch>
            <a:fillRect/>
          </a:stretch>
        </p:blipFill>
        <p:spPr>
          <a:xfrm>
            <a:off x="5474006" y="81340"/>
            <a:ext cx="6057594" cy="6858000"/>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C9555C89-D9D5-082F-90B8-5B16D139E5DB}"/>
              </a:ext>
            </a:extLst>
          </p:cNvPr>
          <p:cNvSpPr txBox="1"/>
          <p:nvPr/>
        </p:nvSpPr>
        <p:spPr>
          <a:xfrm>
            <a:off x="320982" y="1679510"/>
            <a:ext cx="10011746" cy="4247317"/>
          </a:xfrm>
          <a:prstGeom prst="rect">
            <a:avLst/>
          </a:prstGeom>
          <a:noFill/>
        </p:spPr>
        <p:txBody>
          <a:bodyPr wrap="square" rtlCol="0">
            <a:spAutoFit/>
          </a:bodyPr>
          <a:lstStyle/>
          <a:p>
            <a:pPr lvl="0"/>
            <a:r>
              <a:rPr lang="en-IN" b="1" dirty="0"/>
              <a:t>Yield Prediction:</a:t>
            </a:r>
            <a:r>
              <a:rPr lang="en-IN" dirty="0"/>
              <a:t> In future, we can use machine learning to predict crop yield for different seasons. </a:t>
            </a:r>
          </a:p>
          <a:p>
            <a:pPr lvl="0"/>
            <a:r>
              <a:rPr lang="en-IN" b="1" dirty="0"/>
              <a:t>Weather Data:</a:t>
            </a:r>
            <a:r>
              <a:rPr lang="en-IN" dirty="0"/>
              <a:t> We can add live weather data like rainfall, temperature, and humidity to get better results. </a:t>
            </a:r>
          </a:p>
          <a:p>
            <a:pPr lvl="0"/>
            <a:r>
              <a:rPr lang="en-IN" b="1" dirty="0"/>
              <a:t>Smart Irrigation:</a:t>
            </a:r>
            <a:r>
              <a:rPr lang="en-IN" dirty="0"/>
              <a:t> We can make a system that helps farmers choose the best irrigation method and save water. </a:t>
            </a:r>
          </a:p>
          <a:p>
            <a:pPr lvl="0"/>
            <a:r>
              <a:rPr lang="en-IN" b="1" dirty="0"/>
              <a:t>Disease Prediction:</a:t>
            </a:r>
            <a:r>
              <a:rPr lang="en-IN" dirty="0"/>
              <a:t> We can predict the chances of crop diseases and pests using the available data. </a:t>
            </a:r>
          </a:p>
          <a:p>
            <a:pPr lvl="0"/>
            <a:r>
              <a:rPr lang="en-IN" b="1" dirty="0"/>
              <a:t>More Data:</a:t>
            </a:r>
            <a:r>
              <a:rPr lang="en-IN" dirty="0"/>
              <a:t> We can add more states, districts, crops, and seasons to make the project bigger and more useful. </a:t>
            </a:r>
          </a:p>
          <a:p>
            <a:pPr lvl="0"/>
            <a:r>
              <a:rPr lang="en-IN" b="1" dirty="0"/>
              <a:t>Dashboard:</a:t>
            </a:r>
            <a:r>
              <a:rPr lang="en-IN" dirty="0"/>
              <a:t> We can create a simple Power BI or Tableau dashboard so users can easily see the results. </a:t>
            </a:r>
          </a:p>
          <a:p>
            <a:pPr lvl="0"/>
            <a:r>
              <a:rPr lang="en-IN" b="1" dirty="0"/>
              <a:t>Better Planning:</a:t>
            </a:r>
            <a:r>
              <a:rPr lang="en-IN" dirty="0"/>
              <a:t> The results can help farmers and agriculture departments make better plans for different seasons.</a:t>
            </a:r>
          </a:p>
          <a:p>
            <a:endParaRPr lang="en-IN"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2542542" y="3429000"/>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8BF57987-3410-A951-64C8-08597D03FE3D}"/>
              </a:ext>
            </a:extLst>
          </p:cNvPr>
          <p:cNvSpPr txBox="1"/>
          <p:nvPr/>
        </p:nvSpPr>
        <p:spPr>
          <a:xfrm>
            <a:off x="647965" y="2255086"/>
            <a:ext cx="10476277" cy="369332"/>
          </a:xfrm>
          <a:prstGeom prst="rect">
            <a:avLst/>
          </a:prstGeom>
          <a:noFill/>
        </p:spPr>
        <p:txBody>
          <a:bodyPr wrap="square" rtlCol="0">
            <a:spAutoFit/>
          </a:bodyPr>
          <a:lstStyle/>
          <a:p>
            <a:r>
              <a:rPr lang="en-IN" dirty="0">
                <a:hlinkClick r:id="rId3" action="ppaction://hlinkfile"/>
              </a:rPr>
              <a:t>https://github.com/nikhilmadaan2024-star/Seasonal-Agriculture-Performance-Analysis.git</a:t>
            </a:r>
            <a:endParaRPr lang="en-IN" dirty="0"/>
          </a:p>
        </p:txBody>
      </p:sp>
      <p:sp>
        <p:nvSpPr>
          <p:cNvPr id="3" name="TextBox 2">
            <a:extLst>
              <a:ext uri="{FF2B5EF4-FFF2-40B4-BE49-F238E27FC236}">
                <a16:creationId xmlns:a16="http://schemas.microsoft.com/office/drawing/2014/main" id="{A90A60C9-EBF2-3F75-E00D-60D317B4F49C}"/>
              </a:ext>
            </a:extLst>
          </p:cNvPr>
          <p:cNvSpPr txBox="1"/>
          <p:nvPr/>
        </p:nvSpPr>
        <p:spPr>
          <a:xfrm>
            <a:off x="541175" y="1330557"/>
            <a:ext cx="9589869" cy="369332"/>
          </a:xfrm>
          <a:prstGeom prst="rect">
            <a:avLst/>
          </a:prstGeom>
          <a:noFill/>
        </p:spPr>
        <p:txBody>
          <a:bodyPr wrap="none" rtlCol="0">
            <a:spAutoFit/>
          </a:bodyPr>
          <a:lstStyle/>
          <a:p>
            <a:r>
              <a:rPr lang="en-IN" dirty="0"/>
              <a:t>https://github.com/nikhilmadaan2024-star/Seasonal-Agriculture-Performance-Analysis.git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E054ECD8-AF14-28E1-8ADB-BC55745F4728}"/>
              </a:ext>
            </a:extLst>
          </p:cNvPr>
          <p:cNvPicPr>
            <a:picLocks noChangeAspect="1"/>
          </p:cNvPicPr>
          <p:nvPr/>
        </p:nvPicPr>
        <p:blipFill>
          <a:blip r:embed="rId3"/>
          <a:stretch>
            <a:fillRect/>
          </a:stretch>
        </p:blipFill>
        <p:spPr>
          <a:xfrm>
            <a:off x="489181" y="1402495"/>
            <a:ext cx="8724939" cy="5262465"/>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1402</TotalTime>
  <Words>560</Words>
  <Application>Microsoft Office PowerPoint</Application>
  <PresentationFormat>Widescreen</PresentationFormat>
  <Paragraphs>45</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vt:lpstr>
      <vt:lpstr>PROBLEM  STATEMENT</vt:lpstr>
      <vt:lpstr>Project Description  This project analyzes agricultural data across different seasons, crops, states, and farming conditions. It studies yield, production, environmental factors, resource usage, irrigation, market prices, revenue, and profit to identify meaningful patterns and relationships. The analysis uses Python, statistical methods, and data visualizations to understand seasonal  performance and provide evidence-based insights for better agricultural planning.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Nikhil Madaan</cp:lastModifiedBy>
  <cp:revision>100</cp:revision>
  <dcterms:created xsi:type="dcterms:W3CDTF">2021-07-11T13:13:15Z</dcterms:created>
  <dcterms:modified xsi:type="dcterms:W3CDTF">2026-09-09T17:40:27Z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